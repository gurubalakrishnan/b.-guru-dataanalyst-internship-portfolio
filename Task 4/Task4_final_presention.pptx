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8684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457200"/>
            <a:ext cx="2011680" cy="2011680"/>
          </a:xfrm>
          <a:prstGeom prst="ellipse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2244"/>
          </a:solidFill>
          <a:ln w="12700">
            <a:solidFill>
              <a:srgbClr val="0D22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663440"/>
            <a:ext cx="2286000" cy="4800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Storytelling &amp;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Statistical Validation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411480" y="3246120"/>
            <a:ext cx="13716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Guru  |  Data Analyst Internship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Submission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56616" y="1408176"/>
            <a:ext cx="2606040" cy="3200400"/>
          </a:xfrm>
          <a:prstGeom prst="rect">
            <a:avLst/>
          </a:prstGeom>
          <a:solidFill>
            <a:srgbClr val="CBD5E1">
              <a:alpha val="60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71600"/>
            <a:ext cx="2606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371600"/>
            <a:ext cx="260604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07592" y="1481328"/>
            <a:ext cx="640080" cy="640080"/>
          </a:xfrm>
          <a:prstGeom prst="ellipse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88" y="1563624"/>
            <a:ext cx="475488" cy="4754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0040" y="22860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320040" y="26517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Insights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310896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dashboard visuals into a clear, compelling business story for stakeholders.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36976" y="1408176"/>
            <a:ext cx="2606040" cy="3200400"/>
          </a:xfrm>
          <a:prstGeom prst="rect">
            <a:avLst/>
          </a:prstGeom>
          <a:solidFill>
            <a:srgbClr val="CBD5E1">
              <a:alpha val="60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00400" y="1371600"/>
            <a:ext cx="2606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00400" y="1371600"/>
            <a:ext cx="260604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87952" y="1481328"/>
            <a:ext cx="640080" cy="640080"/>
          </a:xfrm>
          <a:prstGeom prst="ellipse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248" y="1563624"/>
            <a:ext cx="475488" cy="47548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200400" y="22860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9" name="Text 15"/>
          <p:cNvSpPr/>
          <p:nvPr/>
        </p:nvSpPr>
        <p:spPr>
          <a:xfrm>
            <a:off x="3200400" y="26517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Validation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3337560" y="310896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one key insight using a rigorous statistical T-Test in Excel.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117336" y="1408176"/>
            <a:ext cx="2606040" cy="3200400"/>
          </a:xfrm>
          <a:prstGeom prst="rect">
            <a:avLst/>
          </a:prstGeom>
          <a:solidFill>
            <a:srgbClr val="CBD5E1">
              <a:alpha val="60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080760" y="1371600"/>
            <a:ext cx="2606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080760" y="1371600"/>
            <a:ext cx="260604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068312" y="1481328"/>
            <a:ext cx="640080" cy="640080"/>
          </a:xfrm>
          <a:prstGeom prst="ellipse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608" y="1563624"/>
            <a:ext cx="475488" cy="47548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080760" y="22860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27" name="Text 22"/>
          <p:cNvSpPr/>
          <p:nvPr/>
        </p:nvSpPr>
        <p:spPr>
          <a:xfrm>
            <a:off x="6080760" y="26517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Interpretation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6217920" y="310896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findings as actionable business interpretation for internship submission.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SUMMARY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Performance Metrics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" y="1737360"/>
            <a:ext cx="1920240" cy="2834640"/>
          </a:xfrm>
          <a:prstGeom prst="rect">
            <a:avLst/>
          </a:prstGeom>
          <a:solidFill>
            <a:srgbClr val="0D22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737360"/>
            <a:ext cx="192024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92024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10.03M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74320" y="2926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33375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Generated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3794760"/>
            <a:ext cx="64008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50592" y="1737360"/>
            <a:ext cx="1920240" cy="2834640"/>
          </a:xfrm>
          <a:prstGeom prst="rect">
            <a:avLst/>
          </a:prstGeom>
          <a:solidFill>
            <a:srgbClr val="0D22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50592" y="1737360"/>
            <a:ext cx="192024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0592" y="192024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2,823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2450592" y="2926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50592" y="33375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Processed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090672" y="3794760"/>
            <a:ext cx="64008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26864" y="1737360"/>
            <a:ext cx="1920240" cy="2834640"/>
          </a:xfrm>
          <a:prstGeom prst="rect">
            <a:avLst/>
          </a:prstGeom>
          <a:solidFill>
            <a:srgbClr val="0D22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26864" y="1737360"/>
            <a:ext cx="192024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26864" y="192024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3.55K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4626864" y="2926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Sale Value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26864" y="33375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Transaction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66944" y="3794760"/>
            <a:ext cx="64008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03136" y="1737360"/>
            <a:ext cx="1920240" cy="2834640"/>
          </a:xfrm>
          <a:prstGeom prst="rect">
            <a:avLst/>
          </a:prstGeom>
          <a:solidFill>
            <a:srgbClr val="0D22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03136" y="1737360"/>
            <a:ext cx="192024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03136" y="192024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2,823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6803136" y="2926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03136" y="33375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Customers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443216" y="3794760"/>
            <a:ext cx="64008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VISUALS USED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069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64008" cy="1463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3736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810512"/>
            <a:ext cx="493776" cy="4937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4630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Sales Trend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71600" y="187452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tracking sales performance across time periods.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00600" y="1325880"/>
            <a:ext cx="4069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00600" y="1325880"/>
            <a:ext cx="64008" cy="1463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983480" y="173736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32" y="1810512"/>
            <a:ext cx="493776" cy="4937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806440" y="14630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Sales by Segment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806440" y="187452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comparing revenue contribution per product segment.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65760" y="3108960"/>
            <a:ext cx="4069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65760" y="3108960"/>
            <a:ext cx="64008" cy="1463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48640" y="352044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593592"/>
            <a:ext cx="493776" cy="49377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71600" y="32461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Order Funnel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371600" y="36576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Chart showing order status flow from placed to shipped.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800600" y="3108960"/>
            <a:ext cx="4069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800600" y="3108960"/>
            <a:ext cx="64008" cy="1463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983480" y="352044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6632" y="3593592"/>
            <a:ext cx="493776" cy="49377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806440" y="32461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Customer Cohort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5806440" y="36576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visualizing customer activity across months and years.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2926080" cy="5070348"/>
          </a:xfrm>
          <a:prstGeom prst="rect">
            <a:avLst/>
          </a:prstGeom>
          <a:solidFill>
            <a:srgbClr val="0D2244"/>
          </a:solidFill>
          <a:ln w="12700">
            <a:solidFill>
              <a:srgbClr val="0D22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29260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09728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" y="219456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82880" y="3566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Dashboard Analysis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926080" y="960120"/>
            <a:ext cx="6217920" cy="658368"/>
          </a:xfrm>
          <a:prstGeom prst="rect">
            <a:avLst/>
          </a:prstGeom>
          <a:solidFill>
            <a:srgbClr val="0D2244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1078992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49040" y="103327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overall performance with 10.03M total sales recorded.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2926080" y="1709928"/>
            <a:ext cx="621792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182880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749040" y="178308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of orders were successfully shipped with minimal issues.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2926080" y="2459736"/>
            <a:ext cx="6217920" cy="658368"/>
          </a:xfrm>
          <a:prstGeom prst="rect">
            <a:avLst/>
          </a:prstGeom>
          <a:solidFill>
            <a:srgbClr val="0D2244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2578608"/>
            <a:ext cx="411480" cy="4114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749040" y="253288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segments contribute differently to total revenue streams.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2926080" y="3209544"/>
            <a:ext cx="621792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3328416"/>
            <a:ext cx="411480" cy="4114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749040" y="3282696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 shows notable changes and patterns across years.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2926080" y="3959352"/>
            <a:ext cx="6217920" cy="658368"/>
          </a:xfrm>
          <a:prstGeom prst="rect">
            <a:avLst/>
          </a:prstGeom>
          <a:solidFill>
            <a:srgbClr val="0D2244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4078224"/>
            <a:ext cx="411480" cy="41148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749040" y="4032504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activity varies significantly across months and years.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HYPOTHESIS TESTING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960120"/>
          </a:xfrm>
          <a:prstGeom prst="rect">
            <a:avLst/>
          </a:prstGeom>
          <a:solidFill>
            <a:srgbClr val="EBF5F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64008" cy="9601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371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234440" y="169164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significant difference between average sales in 2003 and 2004?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" y="2606040"/>
            <a:ext cx="40233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5760" y="2606040"/>
            <a:ext cx="4023360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26060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 Null Hypothesis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32004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statistically significant difference exists between average sales in 2003 and 2004.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63440" y="2606040"/>
            <a:ext cx="40233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63440" y="2606040"/>
            <a:ext cx="40233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46320" y="26060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 Alternative Hypothesis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846320" y="32004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statistically significant difference exists between average sales in 2003 and 2004.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28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 USED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005840"/>
            <a:ext cx="8412480" cy="1645920"/>
          </a:xfrm>
          <a:prstGeom prst="rect">
            <a:avLst/>
          </a:prstGeom>
          <a:solidFill>
            <a:srgbClr val="0D22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1005840"/>
            <a:ext cx="841248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1430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 Two-Sample T-Test (Unequal Variance)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16002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Microsoft Excel's built-in T.TEST function for rigorous statistical comparison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5760" y="2880360"/>
            <a:ext cx="8412480" cy="1097280"/>
          </a:xfrm>
          <a:prstGeom prst="rect">
            <a:avLst/>
          </a:prstGeom>
          <a:solidFill>
            <a:srgbClr val="06102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5760" y="2880360"/>
            <a:ext cx="137160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2880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0080" y="32918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=T.TEST(A2:A1001, B2:B1346, 2, 3)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365760" y="4160520"/>
            <a:ext cx="1965960" cy="777240"/>
          </a:xfrm>
          <a:prstGeom prst="rect">
            <a:avLst/>
          </a:prstGeom>
          <a:solidFill>
            <a:srgbClr val="0D22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5760" y="4160520"/>
            <a:ext cx="196596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42062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1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65760" y="44805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A2:A1001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2003 Data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487168" y="4160520"/>
            <a:ext cx="1965960" cy="777240"/>
          </a:xfrm>
          <a:prstGeom prst="rect">
            <a:avLst/>
          </a:prstGeom>
          <a:solidFill>
            <a:srgbClr val="0D22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487168" y="4160520"/>
            <a:ext cx="196596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487168" y="42062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2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487168" y="44805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B2:B1346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2004 Data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608576" y="4160520"/>
            <a:ext cx="1965960" cy="777240"/>
          </a:xfrm>
          <a:prstGeom prst="rect">
            <a:avLst/>
          </a:prstGeom>
          <a:solidFill>
            <a:srgbClr val="0D22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08576" y="4160520"/>
            <a:ext cx="196596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08576" y="42062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608576" y="44805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Two-tailed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729984" y="4160520"/>
            <a:ext cx="1965960" cy="777240"/>
          </a:xfrm>
          <a:prstGeom prst="rect">
            <a:avLst/>
          </a:prstGeom>
          <a:solidFill>
            <a:srgbClr val="0D22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729984" y="4160520"/>
            <a:ext cx="196596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729984" y="42062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729984" y="44805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Unequal Var.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STATISTICAL SUMMARY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097280" y="1371600"/>
            <a:ext cx="224028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3716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0" y="1371600"/>
            <a:ext cx="24688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371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2003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24688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371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2004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0" y="1965960"/>
            <a:ext cx="7635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1965960"/>
            <a:ext cx="64008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19659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19659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3,516.98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19659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3,512.39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97280" y="2743200"/>
            <a:ext cx="7635240" cy="68580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2743200"/>
            <a:ext cx="64008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274320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0" y="27432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1,763.68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26480" y="27432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1,775.29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97280" y="3520440"/>
            <a:ext cx="7635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7280" y="3520440"/>
            <a:ext cx="64008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80160" y="352044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(T-Test)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74720" y="35204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26480" y="35204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97280" y="4206240"/>
            <a:ext cx="7635240" cy="594360"/>
          </a:xfrm>
          <a:prstGeom prst="rect">
            <a:avLst/>
          </a:prstGeom>
          <a:solidFill>
            <a:srgbClr val="EBF5F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25880" y="4206240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p-value of 0.9504 is far above the 0.05 significance threshold, indicating no significant difference.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822960"/>
            <a:ext cx="3657600" cy="3657600"/>
          </a:xfrm>
          <a:prstGeom prst="ellipse">
            <a:avLst/>
          </a:prstGeom>
          <a:solidFill>
            <a:srgbClr val="0D224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0.9504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0.05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Threshold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0" y="22860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INTERPRETATION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914400"/>
            <a:ext cx="4206240" cy="1143000"/>
          </a:xfrm>
          <a:prstGeom prst="rect">
            <a:avLst/>
          </a:prstGeom>
          <a:solidFill>
            <a:srgbClr val="0D22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914400"/>
            <a:ext cx="64008" cy="1143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to Reject H₀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3258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p-value (0.9504) is greater than 0.05, we do not have enough evidence to reject the null hypothesis.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2286000"/>
            <a:ext cx="4206240" cy="1143000"/>
          </a:xfrm>
          <a:prstGeom prst="rect">
            <a:avLst/>
          </a:prstGeom>
          <a:solidFill>
            <a:srgbClr val="0D22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2286000"/>
            <a:ext cx="64008" cy="1143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377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Significant Difference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26974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sales in 2003 and 2004 are statistically equivalent at the transaction level.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3657600"/>
            <a:ext cx="4206240" cy="1143000"/>
          </a:xfrm>
          <a:prstGeom prst="rect">
            <a:avLst/>
          </a:prstGeom>
          <a:solidFill>
            <a:srgbClr val="0D22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3657600"/>
            <a:ext cx="64008" cy="1143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3749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Conclusion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40690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visual variation in the dashboard is not driven by a real change in average sales value.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CONCLUSION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1005840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25880"/>
            <a:ext cx="1005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508760" y="1417320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Visuals Can Mislead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08760" y="178308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total sales may appear to vary significantly when viewed in dashboard visualizations, creating a potentially misleading narrative.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560320"/>
            <a:ext cx="8412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560320"/>
            <a:ext cx="1005840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560320"/>
            <a:ext cx="1005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508760" y="2651760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Transaction-Level Similarity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08760" y="301752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transaction-level sales in 2003 and 2004 are statistically similar — no real per-transaction improvement occurred.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794760"/>
            <a:ext cx="8412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794760"/>
            <a:ext cx="1005840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794760"/>
            <a:ext cx="1005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508760" y="3886200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of Variation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08760" y="425196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variation is likely due to differences in order volume or product mix, not an actual increase in average sales value per transaction.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Next Steps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600200"/>
            <a:ext cx="2651760" cy="3246120"/>
          </a:xfrm>
          <a:prstGeom prst="rect">
            <a:avLst/>
          </a:prstGeom>
          <a:solidFill>
            <a:srgbClr val="0D22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600200"/>
            <a:ext cx="265176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1783080"/>
            <a:ext cx="731520" cy="731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12" y="1856232"/>
            <a:ext cx="585216" cy="5852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0040" y="2697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457200" y="31546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High-Performing Segments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37033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invest further in product segments that drive the largest revenue contributions.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00400" y="1600200"/>
            <a:ext cx="2651760" cy="3246120"/>
          </a:xfrm>
          <a:prstGeom prst="rect">
            <a:avLst/>
          </a:prstGeom>
          <a:solidFill>
            <a:srgbClr val="0D22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00400" y="1600200"/>
            <a:ext cx="265176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60520" y="1783080"/>
            <a:ext cx="731520" cy="731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3672" y="1856232"/>
            <a:ext cx="585216" cy="58521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200400" y="2697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8" name="Text 14"/>
          <p:cNvSpPr/>
          <p:nvPr/>
        </p:nvSpPr>
        <p:spPr>
          <a:xfrm>
            <a:off x="3337560" y="31546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Order Funnel Health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337560" y="37033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and actively reduce non-shipped order statuses to improve fulfillment efficiency.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080760" y="1600200"/>
            <a:ext cx="2651760" cy="3246120"/>
          </a:xfrm>
          <a:prstGeom prst="rect">
            <a:avLst/>
          </a:prstGeom>
          <a:solidFill>
            <a:srgbClr val="0D22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080760" y="1600200"/>
            <a:ext cx="265176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040880" y="1783080"/>
            <a:ext cx="731520" cy="731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4032" y="1856232"/>
            <a:ext cx="585216" cy="58521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080760" y="2697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25" name="Text 20"/>
          <p:cNvSpPr/>
          <p:nvPr/>
        </p:nvSpPr>
        <p:spPr>
          <a:xfrm>
            <a:off x="6217920" y="31546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Before Claiming Improvement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217920" y="37033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apply statistical testing before presenting business improvements to avoid misleading conclusions.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2244"/>
          </a:solidFill>
          <a:ln w="12700">
            <a:solidFill>
              <a:srgbClr val="0D22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663440"/>
            <a:ext cx="3200400" cy="4800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CONCLUSION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777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Complete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11480" y="1508760"/>
            <a:ext cx="18288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783080"/>
            <a:ext cx="8046720" cy="713232"/>
          </a:xfrm>
          <a:prstGeom prst="rect">
            <a:avLst/>
          </a:prstGeom>
          <a:solidFill>
            <a:srgbClr val="0D2244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38528"/>
            <a:ext cx="402336" cy="40233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34440" y="187452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combines dashboard storytelling with statistical validation methodology.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11480" y="2651760"/>
            <a:ext cx="8046720" cy="713232"/>
          </a:xfrm>
          <a:prstGeom prst="rect">
            <a:avLst/>
          </a:prstGeom>
          <a:solidFill>
            <a:srgbClr val="0D2244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807208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34440" y="274320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insights were rigorously supported by an Excel-based Independent T-Test.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11480" y="3520440"/>
            <a:ext cx="8046720" cy="713232"/>
          </a:xfrm>
          <a:prstGeom prst="rect">
            <a:avLst/>
          </a:prstGeom>
          <a:solidFill>
            <a:srgbClr val="0D2244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75888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34440" y="361188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result: No significant difference in average sales between 2003 and 2004 (p = 0.9504).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11480" y="4663440"/>
            <a:ext cx="4114800" cy="3657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Guru  |  Data Analyst Internship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599</Words>
  <Application>Microsoft Office PowerPoint</Application>
  <PresentationFormat>On-screen Show (16:9)</PresentationFormat>
  <Paragraphs>134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4 - Data Storytelling &amp; Statistical Validation</dc:title>
  <dc:subject>PptxGenJS Presentation</dc:subject>
  <dc:creator>PptxGenJS</dc:creator>
  <cp:lastModifiedBy>sscom</cp:lastModifiedBy>
  <cp:revision>1</cp:revision>
  <dcterms:created xsi:type="dcterms:W3CDTF">2026-04-02T15:17:30Z</dcterms:created>
  <dcterms:modified xsi:type="dcterms:W3CDTF">2026-04-02T15:27:08Z</dcterms:modified>
</cp:coreProperties>
</file>